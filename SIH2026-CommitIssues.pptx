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anose="020F0502020204030204" pitchFamily="2" charset="0"/>
      <p:regular r:id="rId13"/>
      <p:bold r:id="rId14"/>
    </p:embeddedFont>
    <p:embeddedFont>
      <p:font typeface="Roboto" panose="020F0502020204030204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e31222be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g38e31222be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8e31222be0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e31222b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0" name="Google Shape;130;g38e31222b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8e31222be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8c161874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6" name="Google Shape;146;g388c161874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88c1618743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namaste.ayush.gov.in/" TargetMode="External"/><Relationship Id="rId3" Type="http://schemas.openxmlformats.org/officeDocument/2006/relationships/hyperlink" Target="https://pmc.ncbi.nlm.nih.gov/articles/PMC10410508/" TargetMode="External"/><Relationship Id="rId7" Type="http://schemas.openxmlformats.org/officeDocument/2006/relationships/hyperlink" Target="https://www.hl7.org/fhir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cd.who.int/icdapi" TargetMode="External"/><Relationship Id="rId5" Type="http://schemas.openxmlformats.org/officeDocument/2006/relationships/hyperlink" Target="https://nrces.in/ndhm/fhir/r4/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www.pib.gov.in/Pressreleaseshare.aspx?PRID=1994614" TargetMode="External"/><Relationship Id="rId9" Type="http://schemas.openxmlformats.org/officeDocument/2006/relationships/hyperlink" Target="https://github.com/CodexRaunak/NAMASTE-ICD-11-Integr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2836150" y="14350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341555" y="995009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530616" y="2310468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294986" y="-470569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49850" y="1066350"/>
            <a:ext cx="8534400" cy="4385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100" b="1" dirty="0">
                <a:solidFill>
                  <a:srgbClr val="212529"/>
                </a:solidFill>
              </a:rPr>
              <a:t>25026</a:t>
            </a:r>
            <a:endParaRPr sz="2100" b="1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r>
              <a:rPr lang="en-US" sz="2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50" b="1" dirty="0">
                <a:solidFill>
                  <a:srgbClr val="2125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Develop API code to integrate NAMASTE and or the International Classification of Diseases (ICD-11) via the Traditional Medicine Module 2 (TM2) into existing EMR systems that comply with Electronic Health Record (EHR) Standards for India.</a:t>
            </a:r>
            <a:endParaRPr sz="1550" b="1" dirty="0">
              <a:solidFill>
                <a:srgbClr val="2125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 b="1" dirty="0">
              <a:solidFill>
                <a:srgbClr val="2125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667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MedTech/</a:t>
            </a:r>
            <a:r>
              <a:rPr lang="en-US" sz="21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BioTech</a:t>
            </a: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/HealthTech</a:t>
            </a:r>
            <a:endParaRPr sz="2100" b="1" dirty="0">
              <a:solidFill>
                <a:schemeClr val="dk1"/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sz="1100" dirty="0"/>
          </a:p>
          <a:p>
            <a:pPr marL="285750" marR="0" lvl="0" indent="-2667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lang="en-US" sz="2100" b="1" dirty="0">
                <a:solidFill>
                  <a:schemeClr val="dk1"/>
                </a:solidFill>
              </a:rPr>
              <a:t>: Commit Issues </a:t>
            </a:r>
            <a:endParaRPr sz="2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7539550" y="1374450"/>
            <a:ext cx="4387500" cy="3217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6675" y="795250"/>
            <a:ext cx="7218300" cy="23088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/>
          </p:nvPr>
        </p:nvSpPr>
        <p:spPr>
          <a:xfrm>
            <a:off x="183000" y="0"/>
            <a:ext cx="109728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2500"/>
          </a:p>
        </p:txBody>
      </p:sp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5" name="Google Shape;105;p14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0500" y="57100"/>
            <a:ext cx="1869975" cy="6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83000" y="1539950"/>
            <a:ext cx="1919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326288" y="3164888"/>
            <a:ext cx="68820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Innovation and Uniqueness of the solution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8" name="Google Shape;108;p14" descr="Your startup LOGO"/>
          <p:cNvSpPr/>
          <p:nvPr/>
        </p:nvSpPr>
        <p:spPr>
          <a:xfrm>
            <a:off x="396950" y="57100"/>
            <a:ext cx="1562400" cy="6369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Commit Issues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264950" y="758900"/>
            <a:ext cx="65172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                                     </a:t>
            </a:r>
            <a:r>
              <a:rPr lang="en-US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 PROPOSED SOLUTION</a:t>
            </a:r>
            <a:endParaRPr sz="7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It's</a:t>
            </a:r>
            <a:r>
              <a:rPr lang="en-US" sz="1100" b="1" dirty="0">
                <a:solidFill>
                  <a:schemeClr val="dk1"/>
                </a:solidFill>
              </a:rPr>
              <a:t> </a:t>
            </a:r>
            <a:r>
              <a:rPr lang="en-US" sz="1100" dirty="0">
                <a:solidFill>
                  <a:schemeClr val="dk1"/>
                </a:solidFill>
              </a:rPr>
              <a:t>a lightweight, </a:t>
            </a:r>
            <a:r>
              <a:rPr lang="en-US" sz="1100" b="1" dirty="0">
                <a:solidFill>
                  <a:schemeClr val="dk1"/>
                </a:solidFill>
              </a:rPr>
              <a:t>FHIR R4–compliant terminology micro-service</a:t>
            </a:r>
            <a:r>
              <a:rPr lang="en-US" sz="1100" dirty="0">
                <a:solidFill>
                  <a:schemeClr val="dk1"/>
                </a:solidFill>
              </a:rPr>
              <a:t> integrating </a:t>
            </a:r>
            <a:r>
              <a:rPr lang="en-US" sz="1100" b="1" dirty="0">
                <a:solidFill>
                  <a:schemeClr val="dk1"/>
                </a:solidFill>
              </a:rPr>
              <a:t>NAMASTE, WHO Ayurveda, ICD-11 TM2, and Biomedicine</a:t>
            </a:r>
            <a:r>
              <a:rPr lang="en-US" sz="1100" dirty="0">
                <a:solidFill>
                  <a:schemeClr val="dk1"/>
                </a:solidFill>
              </a:rPr>
              <a:t> into EMRs.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Enables </a:t>
            </a:r>
            <a:r>
              <a:rPr lang="en-US" sz="1100" b="1" dirty="0">
                <a:solidFill>
                  <a:schemeClr val="dk1"/>
                </a:solidFill>
              </a:rPr>
              <a:t>AI-powered, real-time bidirectional translation</a:t>
            </a:r>
            <a:r>
              <a:rPr lang="en-US" sz="1100" dirty="0">
                <a:solidFill>
                  <a:schemeClr val="dk1"/>
                </a:solidFill>
              </a:rPr>
              <a:t> with </a:t>
            </a:r>
            <a:r>
              <a:rPr lang="en-US" sz="1100" b="1" dirty="0">
                <a:solidFill>
                  <a:schemeClr val="dk1"/>
                </a:solidFill>
              </a:rPr>
              <a:t>confidence scoring</a:t>
            </a:r>
            <a:r>
              <a:rPr lang="en-US" sz="1100" dirty="0">
                <a:solidFill>
                  <a:schemeClr val="dk1"/>
                </a:solidFill>
              </a:rPr>
              <a:t> and </a:t>
            </a:r>
            <a:r>
              <a:rPr lang="en-US" sz="1100" b="1" dirty="0">
                <a:solidFill>
                  <a:schemeClr val="dk1"/>
                </a:solidFill>
              </a:rPr>
              <a:t>continuous learning</a:t>
            </a:r>
            <a:r>
              <a:rPr lang="en-US" sz="1100" dirty="0">
                <a:solidFill>
                  <a:schemeClr val="dk1"/>
                </a:solidFill>
              </a:rPr>
              <a:t> for accurate dual-coding.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Provides </a:t>
            </a:r>
            <a:r>
              <a:rPr lang="en-US" sz="1100" b="1" dirty="0">
                <a:solidFill>
                  <a:schemeClr val="dk1"/>
                </a:solidFill>
              </a:rPr>
              <a:t>intelligent multilingual search</a:t>
            </a:r>
            <a:r>
              <a:rPr lang="en-US" sz="1100" dirty="0">
                <a:solidFill>
                  <a:schemeClr val="dk1"/>
                </a:solidFill>
              </a:rPr>
              <a:t> with </a:t>
            </a:r>
            <a:r>
              <a:rPr lang="en-US" sz="1100" b="1" dirty="0">
                <a:solidFill>
                  <a:schemeClr val="dk1"/>
                </a:solidFill>
              </a:rPr>
              <a:t>fuzzy matching</a:t>
            </a:r>
            <a:r>
              <a:rPr lang="en-US" sz="1100" dirty="0">
                <a:solidFill>
                  <a:schemeClr val="dk1"/>
                </a:solidFill>
              </a:rPr>
              <a:t> and </a:t>
            </a:r>
            <a:r>
              <a:rPr lang="en-US" sz="1100" b="1" dirty="0">
                <a:solidFill>
                  <a:schemeClr val="dk1"/>
                </a:solidFill>
              </a:rPr>
              <a:t>autocomplete</a:t>
            </a:r>
            <a:r>
              <a:rPr lang="en-US" sz="1100" dirty="0">
                <a:solidFill>
                  <a:schemeClr val="dk1"/>
                </a:solidFill>
              </a:rPr>
              <a:t> for faster, error-free diagnosis entry.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Ensures </a:t>
            </a:r>
            <a:r>
              <a:rPr lang="en-US" sz="1100" b="1" dirty="0">
                <a:solidFill>
                  <a:schemeClr val="dk1"/>
                </a:solidFill>
              </a:rPr>
              <a:t>secure and compliant data exchange</a:t>
            </a:r>
            <a:r>
              <a:rPr lang="en-US" sz="1100" dirty="0">
                <a:solidFill>
                  <a:schemeClr val="dk1"/>
                </a:solidFill>
              </a:rPr>
              <a:t> with </a:t>
            </a:r>
            <a:r>
              <a:rPr lang="en-US" sz="1100" b="1" dirty="0">
                <a:solidFill>
                  <a:schemeClr val="dk1"/>
                </a:solidFill>
              </a:rPr>
              <a:t>OAuth 2.0, ABHA-linked authentication, and ISO 22600–based consent</a:t>
            </a:r>
            <a:r>
              <a:rPr lang="en-US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Supports </a:t>
            </a:r>
            <a:r>
              <a:rPr lang="en-US" sz="1100" b="1" dirty="0">
                <a:solidFill>
                  <a:schemeClr val="dk1"/>
                </a:solidFill>
              </a:rPr>
              <a:t>FHIR Bundle ingestion, analytics, and insurance-ready workflows</a:t>
            </a:r>
            <a:r>
              <a:rPr lang="en-US" sz="1100" dirty="0">
                <a:solidFill>
                  <a:schemeClr val="dk1"/>
                </a:solidFill>
              </a:rPr>
              <a:t> for globally interoperable AYUSH-biomedicine records.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                                                                                                 </a:t>
            </a:r>
            <a:endParaRPr sz="7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7718300" y="1507850"/>
            <a:ext cx="3799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How Our Solution Solves the Problem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7522979" y="1752500"/>
            <a:ext cx="4302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Bridges traditional &amp; modern medicine</a:t>
            </a:r>
            <a:r>
              <a:rPr lang="en-US" sz="1100" dirty="0">
                <a:solidFill>
                  <a:schemeClr val="dk1"/>
                </a:solidFill>
              </a:rPr>
              <a:t> with </a:t>
            </a:r>
            <a:r>
              <a:rPr lang="en-US" sz="1100" b="1" dirty="0">
                <a:solidFill>
                  <a:schemeClr val="dk1"/>
                </a:solidFill>
              </a:rPr>
              <a:t>dual-coding (NAMASTE ↔ ICD-11 TM2 &amp; Biomedicine)</a:t>
            </a:r>
            <a:r>
              <a:rPr lang="en-US" sz="1100" dirty="0">
                <a:solidFill>
                  <a:schemeClr val="dk1"/>
                </a:solidFill>
              </a:rPr>
              <a:t> in EMRs.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Simplifies clinical workflows</a:t>
            </a:r>
            <a:r>
              <a:rPr lang="en-US" sz="1100" dirty="0">
                <a:solidFill>
                  <a:schemeClr val="dk1"/>
                </a:solidFill>
              </a:rPr>
              <a:t> via </a:t>
            </a:r>
            <a:r>
              <a:rPr lang="en-US" sz="1100" b="1" dirty="0">
                <a:solidFill>
                  <a:schemeClr val="dk1"/>
                </a:solidFill>
              </a:rPr>
              <a:t>real-time translation, intelligent search, and autocomplete</a:t>
            </a:r>
            <a:r>
              <a:rPr lang="en-US" sz="1100" dirty="0">
                <a:solidFill>
                  <a:schemeClr val="dk1"/>
                </a:solidFill>
              </a:rPr>
              <a:t>, reducing errors and saving time.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Ensures interoperability &amp; compliance</a:t>
            </a:r>
            <a:r>
              <a:rPr lang="en-US" sz="1100" dirty="0">
                <a:solidFill>
                  <a:schemeClr val="dk1"/>
                </a:solidFill>
              </a:rPr>
              <a:t> with </a:t>
            </a:r>
            <a:r>
              <a:rPr lang="en-US" sz="1100" b="1" dirty="0">
                <a:solidFill>
                  <a:schemeClr val="dk1"/>
                </a:solidFill>
              </a:rPr>
              <a:t>EHR 2016 standards, FHIR R4, ISO 22600, SNOMED CT, and LOINC</a:t>
            </a:r>
            <a:r>
              <a:rPr lang="en-US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Empowers analytics &amp; insurance</a:t>
            </a:r>
            <a:r>
              <a:rPr lang="en-US" sz="1100" dirty="0">
                <a:solidFill>
                  <a:schemeClr val="dk1"/>
                </a:solidFill>
              </a:rPr>
              <a:t> by linking traditional diagnoses with </a:t>
            </a:r>
            <a:r>
              <a:rPr lang="en-US" sz="1100" b="1" dirty="0">
                <a:solidFill>
                  <a:schemeClr val="dk1"/>
                </a:solidFill>
              </a:rPr>
              <a:t>globally recognized ICD-11 codes</a:t>
            </a:r>
            <a:r>
              <a:rPr lang="en-US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Provides secure, consent-aware data handling</a:t>
            </a:r>
            <a:r>
              <a:rPr lang="en-US" sz="1100" dirty="0">
                <a:solidFill>
                  <a:schemeClr val="dk1"/>
                </a:solidFill>
              </a:rPr>
              <a:t> for trusted integration into national healthcare systems.</a:t>
            </a:r>
            <a:br>
              <a:rPr lang="en-US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2" name="Google Shape;11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0463" y="3429000"/>
            <a:ext cx="5113677" cy="292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-8525" y="1179975"/>
            <a:ext cx="5225100" cy="513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288275" y="1188350"/>
            <a:ext cx="6837600" cy="5087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1875" tIns="50925" rIns="101875" bIns="5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endParaRPr sz="8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dirty="0"/>
          </a:p>
        </p:txBody>
      </p:sp>
      <p:sp>
        <p:nvSpPr>
          <p:cNvPr id="137" name="Google Shape;137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8" name="Google Shape;138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0" name="Google Shape;140;p16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7800" y="1263500"/>
            <a:ext cx="6774349" cy="496829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826911" y="1179968"/>
            <a:ext cx="264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Technology Used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3" name="Google Shape;143;p16" title="Technology Used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75" y="1401285"/>
            <a:ext cx="5143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3;p15" descr="Your startup LOGO">
            <a:extLst>
              <a:ext uri="{FF2B5EF4-FFF2-40B4-BE49-F238E27FC236}">
                <a16:creationId xmlns:a16="http://schemas.microsoft.com/office/drawing/2014/main" id="{1BDFAB9E-9DFB-8228-E3AC-3A3D8E4AB09E}"/>
              </a:ext>
            </a:extLst>
          </p:cNvPr>
          <p:cNvSpPr/>
          <p:nvPr/>
        </p:nvSpPr>
        <p:spPr>
          <a:xfrm>
            <a:off x="295700" y="57100"/>
            <a:ext cx="1501800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Commit Issues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300"/>
          </a:p>
        </p:txBody>
      </p:sp>
      <p:sp>
        <p:nvSpPr>
          <p:cNvPr id="151" name="Google Shape;15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3" name="Google Shape;153;p17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26400" y="4738"/>
            <a:ext cx="1861450" cy="6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0" y="1164925"/>
            <a:ext cx="5946600" cy="314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81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8425" tIns="78425" rIns="78425" bIns="78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321250" y="1382925"/>
            <a:ext cx="5490900" cy="27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425" tIns="78425" rIns="78425" bIns="78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4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Potential Challenges and Risks</a:t>
            </a:r>
            <a:endParaRPr sz="1544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4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dirty="0">
                <a:solidFill>
                  <a:schemeClr val="dk1"/>
                </a:solidFill>
              </a:rPr>
              <a:t>Data Standardization Issues:</a:t>
            </a:r>
            <a:r>
              <a:rPr lang="en-US" sz="1100" dirty="0">
                <a:solidFill>
                  <a:schemeClr val="dk1"/>
                </a:solidFill>
              </a:rPr>
              <a:t> NAMASTE codes and ICD-11 may have partial or ambiguous mappings.</a:t>
            </a:r>
            <a:br>
              <a:rPr lang="en-US" sz="1100" dirty="0">
                <a:solidFill>
                  <a:schemeClr val="dk1"/>
                </a:solidFill>
              </a:rPr>
            </a:b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dirty="0">
                <a:solidFill>
                  <a:schemeClr val="dk1"/>
                </a:solidFill>
              </a:rPr>
              <a:t>Integration Complexity:</a:t>
            </a:r>
            <a:r>
              <a:rPr lang="en-US" sz="1100" dirty="0">
                <a:solidFill>
                  <a:schemeClr val="dk1"/>
                </a:solidFill>
              </a:rPr>
              <a:t> Different EMR vendors may have varied FHIR implementations.</a:t>
            </a:r>
            <a:br>
              <a:rPr lang="en-US" sz="1100" dirty="0">
                <a:solidFill>
                  <a:schemeClr val="dk1"/>
                </a:solidFill>
              </a:rPr>
            </a:b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dirty="0">
                <a:solidFill>
                  <a:schemeClr val="dk1"/>
                </a:solidFill>
              </a:rPr>
              <a:t>Language &amp; Transliteration:</a:t>
            </a:r>
            <a:r>
              <a:rPr lang="en-US" sz="1100" dirty="0">
                <a:solidFill>
                  <a:schemeClr val="dk1"/>
                </a:solidFill>
              </a:rPr>
              <a:t> Local languages may pose challenges in AI-powered diagnosis processing.</a:t>
            </a:r>
            <a:br>
              <a:rPr lang="en-US" sz="1100" dirty="0">
                <a:solidFill>
                  <a:schemeClr val="dk1"/>
                </a:solidFill>
              </a:rPr>
            </a:b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dirty="0">
                <a:solidFill>
                  <a:schemeClr val="dk1"/>
                </a:solidFill>
              </a:rPr>
              <a:t>Security &amp; Privacy Risks:</a:t>
            </a:r>
            <a:r>
              <a:rPr lang="en-US" sz="1100" dirty="0">
                <a:solidFill>
                  <a:schemeClr val="dk1"/>
                </a:solidFill>
              </a:rPr>
              <a:t> Handling sensitive patient data requires strict compliance with OAuth 2.0, ISO 22600, and ABHA regulations.</a:t>
            </a:r>
            <a:br>
              <a:rPr lang="en-US" sz="1100" dirty="0">
                <a:solidFill>
                  <a:schemeClr val="dk1"/>
                </a:solidFill>
              </a:rPr>
            </a:b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dirty="0">
                <a:solidFill>
                  <a:schemeClr val="dk1"/>
                </a:solidFill>
              </a:rPr>
              <a:t>Performance Bottlenecks:</a:t>
            </a:r>
            <a:r>
              <a:rPr lang="en-US" sz="1100" dirty="0">
                <a:solidFill>
                  <a:schemeClr val="dk1"/>
                </a:solidFill>
              </a:rPr>
              <a:t> Large-scale batch processing of CSV/FHIR bundles could impact response time.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1" b="1" dirty="0">
              <a:solidFill>
                <a:schemeClr val="dk1"/>
              </a:solidFill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248650" y="646125"/>
            <a:ext cx="5490900" cy="2782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81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8425" tIns="78425" rIns="78425" bIns="78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      Feasibility Analysis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Technical Feasibility:</a:t>
            </a:r>
            <a:r>
              <a:rPr lang="en-US" sz="1100">
                <a:solidFill>
                  <a:schemeClr val="dk1"/>
                </a:solidFill>
              </a:rPr>
              <a:t> FHIR R4 supports standardized resources, enabling CodeSystem, ConceptMap, and Bundle integration.</a:t>
            </a:r>
            <a:br>
              <a:rPr lang="en-US" sz="11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Operational Feasibility:</a:t>
            </a:r>
            <a:r>
              <a:rPr lang="en-US" sz="1100">
                <a:solidFill>
                  <a:schemeClr val="dk1"/>
                </a:solidFill>
              </a:rPr>
              <a:t> RESTful APIs and SDKs allow easy integration with existing EMRs without overhauling infrastructure.</a:t>
            </a:r>
            <a:br>
              <a:rPr lang="en-US" sz="11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Economic Feasibility:</a:t>
            </a:r>
            <a:r>
              <a:rPr lang="en-US" sz="1100">
                <a:solidFill>
                  <a:schemeClr val="dk1"/>
                </a:solidFill>
              </a:rPr>
              <a:t> Reduces manual effort in dual coding, digitization, and reporting, saving costs on labor and insurance claim rejections.</a:t>
            </a:r>
            <a:br>
              <a:rPr lang="en-US" sz="11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AI/ML Feasibility:</a:t>
            </a:r>
            <a:r>
              <a:rPr lang="en-US" sz="1100">
                <a:solidFill>
                  <a:schemeClr val="dk1"/>
                </a:solidFill>
              </a:rPr>
              <a:t> Existing NLP and ML models can be trained on NAMASTE–ICD mappings with continuous improvement.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248650" y="3601250"/>
            <a:ext cx="5490900" cy="266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81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8425" tIns="78425" rIns="78425" bIns="78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                     Strategies to Overcome Challenges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Robust &amp; Accurate Mapping:</a:t>
            </a:r>
            <a:r>
              <a:rPr lang="en-US" sz="1100">
                <a:solidFill>
                  <a:schemeClr val="dk1"/>
                </a:solidFill>
              </a:rPr>
              <a:t> AI-assisted bidirectional translation with confidence scoring and human validation for ambiguous terms.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Modular &amp; Scalable API Design:</a:t>
            </a:r>
            <a:r>
              <a:rPr lang="en-US" sz="1100">
                <a:solidFill>
                  <a:schemeClr val="dk1"/>
                </a:solidFill>
              </a:rPr>
              <a:t> Lightweight FHIR R4 micro-service architecture supporting multiple EMRs and asynchronous batch processing.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Multilingual &amp; Intelligent Input:</a:t>
            </a:r>
            <a:r>
              <a:rPr lang="en-US" sz="1100">
                <a:solidFill>
                  <a:schemeClr val="dk1"/>
                </a:solidFill>
              </a:rPr>
              <a:t> Transliteration, fuzzy matching, and context-aware search for local language diagnoses.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Security &amp; Compliance by Design:</a:t>
            </a:r>
            <a:r>
              <a:rPr lang="en-US" sz="1100">
                <a:solidFill>
                  <a:schemeClr val="dk1"/>
                </a:solidFill>
              </a:rPr>
              <a:t> End-to-end encryption, audit trails, and ABHA-linked OAuth 2.0 authentication.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3" name="Google Shape;123;p15" descr="Your startup LOGO">
            <a:extLst>
              <a:ext uri="{FF2B5EF4-FFF2-40B4-BE49-F238E27FC236}">
                <a16:creationId xmlns:a16="http://schemas.microsoft.com/office/drawing/2014/main" id="{38DAD308-257F-7CC9-5FE4-AE8AAE102033}"/>
              </a:ext>
            </a:extLst>
          </p:cNvPr>
          <p:cNvSpPr/>
          <p:nvPr/>
        </p:nvSpPr>
        <p:spPr>
          <a:xfrm>
            <a:off x="295700" y="57100"/>
            <a:ext cx="1501800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Commit Issues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500"/>
          </a:p>
        </p:txBody>
      </p:sp>
      <p:sp>
        <p:nvSpPr>
          <p:cNvPr id="166" name="Google Shape;166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7" name="Google Shape;167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9" name="Google Shape;169;p18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4950" y="57100"/>
            <a:ext cx="1895525" cy="5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750" y="1248000"/>
            <a:ext cx="3767975" cy="30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93700" y="879588"/>
            <a:ext cx="35439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Potential Impact on the Targeted Audience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5000" y="1087025"/>
            <a:ext cx="7985475" cy="255394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045400" y="658600"/>
            <a:ext cx="19557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Benefits of the Solution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" name="Google Shape;123;p15" descr="Your startup LOGO">
            <a:extLst>
              <a:ext uri="{FF2B5EF4-FFF2-40B4-BE49-F238E27FC236}">
                <a16:creationId xmlns:a16="http://schemas.microsoft.com/office/drawing/2014/main" id="{E3BD2684-A2B6-D46B-D3A3-8F3ACC2322E6}"/>
              </a:ext>
            </a:extLst>
          </p:cNvPr>
          <p:cNvSpPr/>
          <p:nvPr/>
        </p:nvSpPr>
        <p:spPr>
          <a:xfrm>
            <a:off x="295700" y="57100"/>
            <a:ext cx="1501800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Commit Issues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09600" y="1593900"/>
            <a:ext cx="10451400" cy="4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RESEARCH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</a:endParaRPr>
          </a:p>
          <a:p>
            <a:pPr marL="171450" lvl="0" indent="-298450" algn="just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100" b="1">
                <a:solidFill>
                  <a:schemeClr val="dk1"/>
                </a:solidFill>
              </a:rPr>
              <a:t>NAMASTE Portal launched by PM Narendra Modi on 2nd Ayurveda Day (October 17, 2017) at AIIA, New Delhi</a:t>
            </a:r>
            <a:r>
              <a:rPr lang="en-US" sz="1100" b="1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b="1" u="sng">
                <a:solidFill>
                  <a:schemeClr val="hlink"/>
                </a:solidFill>
                <a:hlinkClick r:id="rId3"/>
              </a:rPr>
              <a:t>Initiatives: National Ayush Morbidity and Standardized Terminologies Electronic (NAMASTE) Portal - PMC</a:t>
            </a:r>
            <a:r>
              <a:rPr lang="en-US" sz="1100">
                <a:solidFill>
                  <a:schemeClr val="dk1"/>
                </a:solidFill>
              </a:rPr>
              <a:t> - This establishes the foundational government support.</a:t>
            </a:r>
            <a:endParaRPr sz="1100">
              <a:solidFill>
                <a:schemeClr val="dk1"/>
              </a:solidFill>
            </a:endParaRPr>
          </a:p>
          <a:p>
            <a:pPr marL="171450" lvl="0" indent="-298450" algn="just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100" b="1">
                <a:solidFill>
                  <a:schemeClr val="dk1"/>
                </a:solidFill>
              </a:rPr>
              <a:t>WHO ICD-11 TM Module 2 launch event held in New Delhi on January 10, 2024</a:t>
            </a:r>
            <a:r>
              <a:rPr lang="en-US" sz="1100" b="1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b="1" u="sng">
                <a:solidFill>
                  <a:schemeClr val="hlink"/>
                </a:solidFill>
                <a:hlinkClick r:id="rId4"/>
              </a:rPr>
              <a:t>Launch of the Traditional Medicine Morbidity codes of Ayurveda, Siddha and Unani Chapter in International Classification of Diseaseas (ICD) 11 as Module 2</a:t>
            </a:r>
            <a:r>
              <a:rPr lang="en-US" sz="1100">
                <a:solidFill>
                  <a:schemeClr val="dk1"/>
                </a:solidFill>
              </a:rPr>
              <a:t> - This is the most recent milestone making your problem statement highly relevant.</a:t>
            </a:r>
            <a:endParaRPr sz="1100">
              <a:solidFill>
                <a:schemeClr val="dk1"/>
              </a:solidFill>
            </a:endParaRPr>
          </a:p>
          <a:p>
            <a:pPr marL="171450" lvl="0" indent="-298450" algn="just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100" b="1">
                <a:solidFill>
                  <a:schemeClr val="dk1"/>
                </a:solidFill>
              </a:rPr>
              <a:t>FHIR Implementation Guide for ABDM Health Data Interchange Specifications 1.0 based on FHIR Version R4</a:t>
            </a:r>
            <a:r>
              <a:rPr lang="en-US" sz="1100" b="1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b="1" u="sng">
                <a:solidFill>
                  <a:schemeClr val="hlink"/>
                </a:solidFill>
                <a:hlinkClick r:id="rId5"/>
              </a:rPr>
              <a:t>Home - FHIR Implementation Guide for ABDM v6.5.0</a:t>
            </a:r>
            <a:r>
              <a:rPr lang="en-US" sz="1100">
                <a:solidFill>
                  <a:schemeClr val="dk1"/>
                </a:solidFill>
              </a:rPr>
              <a:t> - This confirms the technical foundation you're building on.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</a:rPr>
              <a:t>TECHNICAL RESOURCES</a:t>
            </a:r>
            <a:endParaRPr sz="17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WHO ICD-11 API</a:t>
            </a:r>
            <a:r>
              <a:rPr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6"/>
              </a:rPr>
              <a:t>https://icd.who.int/icdapi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FHIR R4 Specification</a:t>
            </a:r>
            <a:r>
              <a:rPr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7"/>
              </a:rPr>
              <a:t>https://www.hl7.org/fhir/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ABDM FHIR Guide</a:t>
            </a:r>
            <a:r>
              <a:rPr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5"/>
              </a:rPr>
              <a:t>https://nrces.in/ndhm/fhir/r4/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NAMASTE Portal</a:t>
            </a:r>
            <a:r>
              <a:rPr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8"/>
              </a:rPr>
              <a:t>https://namaste.ayush.gov.in/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GitHub Reference</a:t>
            </a:r>
            <a:r>
              <a:rPr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9"/>
              </a:rPr>
              <a:t>https://github.com/CodexRaunak/NAMASTE-ICD-11-Integration</a:t>
            </a:r>
            <a:endParaRPr sz="1100" u="sng">
              <a:solidFill>
                <a:schemeClr val="hlink"/>
              </a:solidFill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182" name="Google Shape;182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3" name="Google Shape;183;p19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4" name="Google Shape;184;p19" descr="https://www.sih.gov.in/img1/SIH-Logo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3;p15" descr="Your startup LOGO">
            <a:extLst>
              <a:ext uri="{FF2B5EF4-FFF2-40B4-BE49-F238E27FC236}">
                <a16:creationId xmlns:a16="http://schemas.microsoft.com/office/drawing/2014/main" id="{8EDB92A1-DF9C-6E06-B73F-5E066E90C5F7}"/>
              </a:ext>
            </a:extLst>
          </p:cNvPr>
          <p:cNvSpPr/>
          <p:nvPr/>
        </p:nvSpPr>
        <p:spPr>
          <a:xfrm>
            <a:off x="295700" y="57100"/>
            <a:ext cx="1501800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Commit Issues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795</Words>
  <Application>Microsoft Office PowerPoint</Application>
  <PresentationFormat>Widescreen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Oswald</vt:lpstr>
      <vt:lpstr>Garamond</vt:lpstr>
      <vt:lpstr>Calibri</vt:lpstr>
      <vt:lpstr>Arial</vt:lpstr>
      <vt:lpstr>Times New Roman</vt:lpstr>
      <vt:lpstr>Roboto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Nikunj Maru</dc:creator>
  <cp:lastModifiedBy>Nikunj Maru</cp:lastModifiedBy>
  <cp:revision>1</cp:revision>
  <dcterms:modified xsi:type="dcterms:W3CDTF">2026-08-22T04:17:02Z</dcterms:modified>
</cp:coreProperties>
</file>